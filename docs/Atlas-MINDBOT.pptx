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50" d="100"/>
          <a:sy n="50" d="100"/>
        </p:scale>
        <p:origin x="-43" y="8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3035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One line: students don't lack information, they lack a second mind that remembers what they're forgetting. Then go straight to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ten seconds. The demo makes the point better than the slide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theme slide. Say the line at the bottom out loud — it is the whole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these out. Point at Adapt and Improve — they're the two nobody else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demo beat. Answer wrong on purpose, let it catch the misconception, then cut to the graph and show the same number has moved there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rules ask you to explain the workflow. This slide is that answer — say the three steps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asks what you actually built versus what you glued together: the PDF reader and the offline coach are both ours, written because the off-the-shelf options failed.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second line, then stop talking and let them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1005840"/>
            <a:ext cx="4206240" cy="4206240"/>
          </a:xfrm>
          <a:prstGeom prst="ellipse">
            <a:avLst/>
          </a:prstGeom>
          <a:ln w="25400">
            <a:solidFill>
              <a:srgbClr val="2BCDB6">
                <a:alpha val="3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86954" y="1594714"/>
            <a:ext cx="3028493" cy="3028493"/>
          </a:xfrm>
          <a:prstGeom prst="ellipse">
            <a:avLst/>
          </a:prstGeom>
          <a:ln w="12700">
            <a:solidFill>
              <a:srgbClr val="78817B">
                <a:alpha val="2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601200" y="3108960"/>
            <a:ext cx="1303934" cy="1051560"/>
          </a:xfrm>
          <a:prstGeom prst="line">
            <a:avLst/>
          </a:prstGeom>
          <a:noFill/>
          <a:ln w="38100">
            <a:solidFill>
              <a:srgbClr val="2BCDB6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3044952"/>
            <a:ext cx="128016" cy="128016"/>
          </a:xfrm>
          <a:prstGeom prst="ellipse">
            <a:avLst/>
          </a:prstGeom>
          <a:solidFill>
            <a:srgbClr val="2BCDB6"/>
          </a:solidFill>
          <a:ln w="12700">
            <a:solidFill>
              <a:srgbClr val="2BCD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85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2BC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MINDBOT  ·  SYNAPTICA — DUALITY OF MIND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2BC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second mind.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342900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mind learns, and forgets. Atlas keeps a running model of what you know , every topic, a confidence score, a decay curve  and decides what you study next.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760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rgbClr val="7881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AI study coach for CBSE and ICSE students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7881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don't lack information.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BC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lack a system.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2002536" cy="1371600"/>
          </a:xfrm>
          <a:prstGeom prst="roundRect">
            <a:avLst>
              <a:gd name="adj" fmla="val 10667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697480"/>
            <a:ext cx="1636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u="sng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1500" u="sng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43784" y="2514600"/>
            <a:ext cx="2002536" cy="1371600"/>
          </a:xfrm>
          <a:prstGeom prst="roundRect">
            <a:avLst>
              <a:gd name="adj" fmla="val 10667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026664" y="2697480"/>
            <a:ext cx="1636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u="sng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</a:t>
            </a:r>
            <a:endParaRPr lang="en-US" sz="1500" u="sng" dirty="0"/>
          </a:p>
        </p:txBody>
      </p:sp>
      <p:sp>
        <p:nvSpPr>
          <p:cNvPr id="10" name="Text 8"/>
          <p:cNvSpPr/>
          <p:nvPr/>
        </p:nvSpPr>
        <p:spPr>
          <a:xfrm>
            <a:off x="3026664" y="306324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47488" y="2514600"/>
            <a:ext cx="2002536" cy="1371600"/>
          </a:xfrm>
          <a:prstGeom prst="roundRect">
            <a:avLst>
              <a:gd name="adj" fmla="val 10667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30368" y="2697480"/>
            <a:ext cx="1636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u="sng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Notion</a:t>
            </a:r>
            <a:endParaRPr lang="en-US" sz="1500" u="sng" dirty="0"/>
          </a:p>
        </p:txBody>
      </p:sp>
      <p:sp>
        <p:nvSpPr>
          <p:cNvPr id="13" name="Text 11"/>
          <p:cNvSpPr/>
          <p:nvPr/>
        </p:nvSpPr>
        <p:spPr>
          <a:xfrm>
            <a:off x="5230368" y="306324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and plans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51192" y="2514600"/>
            <a:ext cx="2002536" cy="1371600"/>
          </a:xfrm>
          <a:prstGeom prst="roundRect">
            <a:avLst>
              <a:gd name="adj" fmla="val 10667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34072" y="2697480"/>
            <a:ext cx="1636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u="sng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Forest</a:t>
            </a:r>
            <a:endParaRPr lang="en-US" sz="1500" u="sng" dirty="0"/>
          </a:p>
        </p:txBody>
      </p:sp>
      <p:sp>
        <p:nvSpPr>
          <p:cNvPr id="16" name="Text 14"/>
          <p:cNvSpPr/>
          <p:nvPr/>
        </p:nvSpPr>
        <p:spPr>
          <a:xfrm>
            <a:off x="7434072" y="306324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timing and Pomodoro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454896" y="2514600"/>
            <a:ext cx="2002536" cy="1371600"/>
          </a:xfrm>
          <a:prstGeom prst="roundRect">
            <a:avLst>
              <a:gd name="adj" fmla="val 10667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637776" y="2697480"/>
            <a:ext cx="1636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u="sng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Anki</a:t>
            </a:r>
            <a:endParaRPr lang="en-US" sz="1500" u="sng" dirty="0"/>
          </a:p>
        </p:txBody>
      </p:sp>
      <p:sp>
        <p:nvSpPr>
          <p:cNvPr id="19" name="Text 17"/>
          <p:cNvSpPr/>
          <p:nvPr/>
        </p:nvSpPr>
        <p:spPr>
          <a:xfrm>
            <a:off x="9637776" y="306324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26942" y="4370832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899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6000" dirty="0"/>
          </a:p>
        </p:txBody>
      </p:sp>
      <p:sp>
        <p:nvSpPr>
          <p:cNvPr id="21" name="Text 19"/>
          <p:cNvSpPr/>
          <p:nvPr/>
        </p:nvSpPr>
        <p:spPr>
          <a:xfrm>
            <a:off x="1737360" y="434340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that each solve one piece, and none of which knows the student's whole academic year. The result is decision fatigue, more time spent deciding what to revise than revising.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2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2BC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Duality of mind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74920" cy="3977640"/>
          </a:xfrm>
          <a:prstGeom prst="roundRect">
            <a:avLst>
              <a:gd name="adj" fmla="val 3678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0574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7881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MIND — YOURS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05840" y="23774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Learns, and forgets.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2971800"/>
            <a:ext cx="4343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a chapter on Tuesday.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lost half of it by the following month.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feel which topics are slipping.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what to revise by mood, or by panic.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46520" y="1783080"/>
            <a:ext cx="5074920" cy="3977640"/>
          </a:xfrm>
          <a:prstGeom prst="roundRect">
            <a:avLst>
              <a:gd name="adj" fmla="val 3678"/>
            </a:avLst>
          </a:prstGeom>
          <a:solidFill>
            <a:srgbClr val="363D38"/>
          </a:solidFill>
          <a:ln w="12700">
            <a:solidFill>
              <a:srgbClr val="363D38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12280" y="20574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2BC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SECOND MIND — ATLAS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12280" y="23774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Remembers, and decides.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812280" y="2971800"/>
            <a:ext cx="4343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a confidence score for every topic.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decay: what you knew is not what you know.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Weighs each paper by how close it is.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you the next task before you ask.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2BC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chat is where the two of them meet.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7881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DOES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things, one loop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43630" cy="1920240"/>
          </a:xfrm>
          <a:prstGeom prst="roundRect">
            <a:avLst>
              <a:gd name="adj" fmla="val 7619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21408"/>
            <a:ext cx="310896" cy="310896"/>
          </a:xfrm>
          <a:prstGeom prst="ellipse">
            <a:avLst/>
          </a:prstGeom>
          <a:solidFill>
            <a:srgbClr val="2BCDB6"/>
          </a:solidFill>
          <a:ln w="12700">
            <a:solidFill>
              <a:srgbClr val="2BCD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9888" y="2103120"/>
            <a:ext cx="24377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32688" y="2606040"/>
            <a:ext cx="28584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daily mission, computed from confidence, exam distance and the time you actually have.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58030" y="1828800"/>
            <a:ext cx="3443630" cy="1920240"/>
          </a:xfrm>
          <a:prstGeom prst="roundRect">
            <a:avLst>
              <a:gd name="adj" fmla="val 7619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50638" y="2121408"/>
            <a:ext cx="310896" cy="310896"/>
          </a:xfrm>
          <a:prstGeom prst="ellipse">
            <a:avLst/>
          </a:prstGeom>
          <a:solidFill>
            <a:srgbClr val="2BCDB6"/>
          </a:solidFill>
          <a:ln w="12700">
            <a:solidFill>
              <a:srgbClr val="2BCD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07838" y="2103120"/>
            <a:ext cx="24377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650638" y="2606040"/>
            <a:ext cx="28584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Pomodoro focus sessions with the coach beside you, asking rather than answering.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5981" y="1828800"/>
            <a:ext cx="3443630" cy="1920240"/>
          </a:xfrm>
          <a:prstGeom prst="roundRect">
            <a:avLst>
              <a:gd name="adj" fmla="val 7619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68589" y="2121408"/>
            <a:ext cx="310896" cy="310896"/>
          </a:xfrm>
          <a:prstGeom prst="ellipse">
            <a:avLst/>
          </a:prstGeom>
          <a:solidFill>
            <a:srgbClr val="2BCDB6"/>
          </a:solidFill>
          <a:ln w="12700">
            <a:solidFill>
              <a:srgbClr val="2BCD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25789" y="2103120"/>
            <a:ext cx="24377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368589" y="2606040"/>
            <a:ext cx="28584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learning graph: your syllabus as a structure, each topic carrying its own score.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3443630" cy="1920240"/>
          </a:xfrm>
          <a:prstGeom prst="roundRect">
            <a:avLst>
              <a:gd name="adj" fmla="val 7619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32688" y="4315968"/>
            <a:ext cx="310896" cy="310896"/>
          </a:xfrm>
          <a:prstGeom prst="ellipse">
            <a:avLst/>
          </a:prstGeom>
          <a:solidFill>
            <a:srgbClr val="E8993F"/>
          </a:solidFill>
          <a:ln w="12700">
            <a:solidFill>
              <a:srgbClr val="E8993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9888" y="4297680"/>
            <a:ext cx="24377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32688" y="4800600"/>
            <a:ext cx="28584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decays. Topics resurface for revision before you notice they've gone.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358030" y="4023360"/>
            <a:ext cx="3443630" cy="1920240"/>
          </a:xfrm>
          <a:prstGeom prst="roundRect">
            <a:avLst>
              <a:gd name="adj" fmla="val 7619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50638" y="4315968"/>
            <a:ext cx="310896" cy="310896"/>
          </a:xfrm>
          <a:prstGeom prst="ellipse">
            <a:avLst/>
          </a:prstGeom>
          <a:solidFill>
            <a:srgbClr val="E8993F"/>
          </a:solidFill>
          <a:ln w="12700">
            <a:solidFill>
              <a:srgbClr val="E8993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07838" y="4297680"/>
            <a:ext cx="24377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4650638" y="4800600"/>
            <a:ext cx="28584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 eases off when you miss a day. It never resets to zero.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075981" y="4023360"/>
            <a:ext cx="3443630" cy="1920240"/>
          </a:xfrm>
          <a:prstGeom prst="roundRect">
            <a:avLst>
              <a:gd name="adj" fmla="val 7619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68589" y="4315968"/>
            <a:ext cx="310896" cy="310896"/>
          </a:xfrm>
          <a:prstGeom prst="ellipse">
            <a:avLst/>
          </a:prstGeom>
          <a:solidFill>
            <a:srgbClr val="D4644C"/>
          </a:solidFill>
          <a:ln w="12700">
            <a:solidFill>
              <a:srgbClr val="D4644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25789" y="4297680"/>
            <a:ext cx="24377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8368589" y="4800600"/>
            <a:ext cx="28584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syllabus PDF — or photograph a printed one — and Atlas builds the rest.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2BC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CHATBOT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coach, not a chatbot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not hand over the answer. That's the point — and it's enforced in the prompt.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7040880" cy="3794760"/>
          </a:xfrm>
          <a:prstGeom prst="roundRect">
            <a:avLst>
              <a:gd name="adj" fmla="val 3855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3317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7881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26060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7E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gets weaker because the wire is longer now.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2BC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ATLAS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347472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E7E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isn't what sets the field here. Picture the field lines from each small segment of the loop — at the centre, are they pointing the same way, or fighting each other?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05840" y="4572000"/>
            <a:ext cx="6309360" cy="868680"/>
          </a:xfrm>
          <a:prstGeom prst="roundRect">
            <a:avLst>
              <a:gd name="adj" fmla="val 10526"/>
            </a:avLst>
          </a:prstGeom>
          <a:solidFill>
            <a:srgbClr val="3A2E1C"/>
          </a:solidFill>
          <a:ln w="12700">
            <a:solidFill>
              <a:srgbClr val="3A2E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77108" y="4709160"/>
            <a:ext cx="57466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99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Misconception detected: treating field strength as a function of wire length.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057400"/>
            <a:ext cx="3474720" cy="3794760"/>
          </a:xfrm>
          <a:prstGeom prst="roundRect">
            <a:avLst>
              <a:gd name="adj" fmla="val 4211"/>
            </a:avLst>
          </a:prstGeom>
          <a:solidFill>
            <a:srgbClr val="363D38"/>
          </a:solidFill>
          <a:ln w="12700">
            <a:solidFill>
              <a:srgbClr val="363D38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0" y="23317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2BC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THE MODEL UPDATES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412480" y="2697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7EC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841248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in Magnetic Effects, before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412480" y="4114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899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412480" y="49377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after. The graph, the dashboard and tomorrow's mission all move with it.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2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7881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AI pipelines, not one prompt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43630" cy="3108960"/>
          </a:xfrm>
          <a:prstGeom prst="roundRect">
            <a:avLst>
              <a:gd name="adj" fmla="val 4706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BC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28035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syllabus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200400"/>
            <a:ext cx="280355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PDF, or a photo of a printed sheet. Text is pulled out in the browser or on the server, then structured into subjects, chapters and exam dates.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01998" y="31089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881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358030" y="1828800"/>
            <a:ext cx="3443630" cy="3108960"/>
          </a:xfrm>
          <a:prstGeom prst="roundRect">
            <a:avLst>
              <a:gd name="adj" fmla="val 4706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7807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BC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678070" y="2697480"/>
            <a:ext cx="28035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the day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78070" y="3200400"/>
            <a:ext cx="280355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topic is scored on confidence, days since you last saw it, and how close its paper is. The mission fills your available minutes, hardest first.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819949" y="31089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881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75981" y="1828800"/>
            <a:ext cx="3443630" cy="3108960"/>
          </a:xfrm>
          <a:prstGeom prst="roundRect">
            <a:avLst>
              <a:gd name="adj" fmla="val 4706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96021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BC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396021" y="2697480"/>
            <a:ext cx="28035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and evaluate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6021" y="3200400"/>
            <a:ext cx="280355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returns two things: the streamed reply you read, and a structured verdict — misconception, confidence delta, next question.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2578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coach says is grounded in the student's own data: their syllabus, their confidence, their exam dates. That context is the difference between a coach and a search box.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7881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WITH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1325880"/>
          </a:xfrm>
          <a:prstGeom prst="roundRect">
            <a:avLst>
              <a:gd name="adj" fmla="val 11034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C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 Flash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and the syllabus extractor. Streaming, so replies arrive as they're written.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303520" cy="1325880"/>
          </a:xfrm>
          <a:prstGeom prst="roundRect">
            <a:avLst>
              <a:gd name="adj" fmla="val 11034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9659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C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3317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Router. The API key stays server-side and never reaches the browser.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364992"/>
            <a:ext cx="5303520" cy="1325880"/>
          </a:xfrm>
          <a:prstGeom prst="roundRect">
            <a:avLst>
              <a:gd name="adj" fmla="val 11034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54787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C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Appwrite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391363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and storage. Every record scoped to the student who owns it.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364992"/>
            <a:ext cx="5303520" cy="1325880"/>
          </a:xfrm>
          <a:prstGeom prst="roundRect">
            <a:avLst>
              <a:gd name="adj" fmla="val 11034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37960" y="354787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C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Tesseract.js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391363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Optical character recognition in the browser, so a photographed syllabus works too.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946904"/>
            <a:ext cx="5303520" cy="1325880"/>
          </a:xfrm>
          <a:prstGeom prst="roundRect">
            <a:avLst>
              <a:gd name="adj" fmla="val 11034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512978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C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PDF reader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5495544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from scratch on node:zlib — decodes subset fonts that off-the-shelf parsers returned as gibberish.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4946904"/>
            <a:ext cx="5303520" cy="1325880"/>
          </a:xfrm>
          <a:prstGeom prst="roundRect">
            <a:avLst>
              <a:gd name="adj" fmla="val 11034"/>
            </a:avLst>
          </a:prstGeom>
          <a:solidFill>
            <a:srgbClr val="2E3430"/>
          </a:solidFill>
          <a:ln w="12700">
            <a:solidFill>
              <a:srgbClr val="2E3430"/>
            </a:solidFill>
            <a:prstDash val="solid"/>
          </a:ln>
          <a:effectLst>
            <a:outerShdw blurRad="177800" dist="50800" dir="2700000" algn="bl" rotWithShape="0">
              <a:srgbClr val="0F1310">
                <a:alpha val="5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37960" y="512978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C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37960" y="5495544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A3A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Deployment. The coach falls back to an on-device responder when the network drops.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2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2194560"/>
            <a:ext cx="3657600" cy="3657600"/>
          </a:xfrm>
          <a:prstGeom prst="ellipse">
            <a:avLst/>
          </a:prstGeom>
          <a:ln w="25400">
            <a:solidFill>
              <a:srgbClr val="2BCDB6">
                <a:alpha val="3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58784" y="2706624"/>
            <a:ext cx="2633472" cy="2633472"/>
          </a:xfrm>
          <a:prstGeom prst="ellipse">
            <a:avLst/>
          </a:prstGeom>
          <a:ln w="12700">
            <a:solidFill>
              <a:srgbClr val="78817B">
                <a:alpha val="1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875520" y="4023360"/>
            <a:ext cx="1133856" cy="914400"/>
          </a:xfrm>
          <a:prstGeom prst="line">
            <a:avLst/>
          </a:prstGeom>
          <a:noFill/>
          <a:ln w="38100">
            <a:solidFill>
              <a:srgbClr val="2BCDB6">
                <a:alpha val="3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11512" y="3959352"/>
            <a:ext cx="128016" cy="128016"/>
          </a:xfrm>
          <a:prstGeom prst="ellipse">
            <a:avLst/>
          </a:prstGeom>
          <a:solidFill>
            <a:srgbClr val="2BCDB6"/>
          </a:solidFill>
          <a:ln w="12700">
            <a:solidFill>
              <a:srgbClr val="2BCD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85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2BC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ATLAS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400"/>
              </a:lnSpc>
              <a:buNone/>
            </a:pPr>
            <a:r>
              <a:rPr lang="en-US" sz="44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shouldn't have to</a:t>
            </a:r>
            <a:endParaRPr lang="en-US" sz="4400" dirty="0"/>
          </a:p>
          <a:p>
            <a:pPr marL="0" indent="0">
              <a:lnSpc>
                <a:spcPts val="5400"/>
              </a:lnSpc>
              <a:buNone/>
            </a:pPr>
            <a:r>
              <a:rPr lang="en-US" sz="4400" b="1" dirty="0">
                <a:solidFill>
                  <a:srgbClr val="E7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wonder what to study next.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2BC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should open Atlas, and it already knows.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5669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50" dirty="0">
                <a:solidFill>
                  <a:srgbClr val="7881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 — questions welcome.</a:t>
            </a:r>
            <a:endParaRPr 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E42662-5149-4FB2-8A46-4D3B098AA083}"/>
              </a:ext>
            </a:extLst>
          </p:cNvPr>
          <p:cNvSpPr txBox="1"/>
          <p:nvPr/>
        </p:nvSpPr>
        <p:spPr>
          <a:xfrm>
            <a:off x="640080" y="4234644"/>
            <a:ext cx="33529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bg1">
                    <a:lumMod val="95000"/>
                  </a:schemeClr>
                </a:solidFill>
              </a:rPr>
              <a:t>Built by</a:t>
            </a:r>
          </a:p>
          <a:p>
            <a:r>
              <a:rPr lang="en-US" i="1" dirty="0">
                <a:solidFill>
                  <a:schemeClr val="bg1">
                    <a:lumMod val="95000"/>
                  </a:schemeClr>
                </a:solidFill>
              </a:rPr>
              <a:t>Aarush </a:t>
            </a:r>
            <a:r>
              <a:rPr lang="en-US" i="1" dirty="0" err="1">
                <a:solidFill>
                  <a:schemeClr val="bg1">
                    <a:lumMod val="95000"/>
                  </a:schemeClr>
                </a:solidFill>
              </a:rPr>
              <a:t>Sonker</a:t>
            </a:r>
            <a:endParaRPr lang="en-US" i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US" i="1" dirty="0">
                <a:solidFill>
                  <a:schemeClr val="bg1">
                    <a:lumMod val="95000"/>
                  </a:schemeClr>
                </a:solidFill>
              </a:rPr>
              <a:t>Ishan </a:t>
            </a:r>
            <a:r>
              <a:rPr lang="en-US" i="1" dirty="0" err="1">
                <a:solidFill>
                  <a:schemeClr val="bg1">
                    <a:lumMod val="95000"/>
                  </a:schemeClr>
                </a:solidFill>
              </a:rPr>
              <a:t>Asati</a:t>
            </a:r>
            <a:endParaRPr lang="en-US" i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US" i="1" dirty="0">
                <a:solidFill>
                  <a:schemeClr val="bg1">
                    <a:lumMod val="95000"/>
                  </a:schemeClr>
                </a:solidFill>
              </a:rPr>
              <a:t>GD </a:t>
            </a:r>
            <a:r>
              <a:rPr lang="en-US" i="1" dirty="0" err="1">
                <a:solidFill>
                  <a:schemeClr val="bg1">
                    <a:lumMod val="95000"/>
                  </a:schemeClr>
                </a:solidFill>
              </a:rPr>
              <a:t>Goenka</a:t>
            </a:r>
            <a:r>
              <a:rPr lang="en-US" i="1" dirty="0">
                <a:solidFill>
                  <a:schemeClr val="bg1">
                    <a:lumMod val="95000"/>
                  </a:schemeClr>
                </a:solidFill>
              </a:rPr>
              <a:t> Public School, Dwarka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935</Words>
  <Application>Microsoft Office PowerPoint</Application>
  <PresentationFormat>Widescreen</PresentationFormat>
  <Paragraphs>115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Atlas — Your second mind</dc:title>
  <dc:subject>PptxGenJS Presentation</dc:subject>
  <dc:creator>Team Atlas</dc:creator>
  <cp:lastModifiedBy>AARUSH SONKER</cp:lastModifiedBy>
  <cp:revision>5</cp:revision>
  <dcterms:created xsi:type="dcterms:W3CDTF">2026-07-28T19:28:33Z</dcterms:created>
  <dcterms:modified xsi:type="dcterms:W3CDTF">2026-07-28T21:33:32Z</dcterms:modified>
</cp:coreProperties>
</file>