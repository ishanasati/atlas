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One line: students don't lack information, they lack a second mind that remembers what they're forgetting. Then go straight to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ten seconds. The demo makes the point better than the slide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theme slide. Say the line at the bottom out loud — it is the whole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these out. Point at Adapt and Improve — they're the two nobody else builds.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beat. Answer wrong on purpose, let it catch the misconception, then cut to the graph and show the same number has moved there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ask you to explain the workflow. This slide is that answer — say the three steps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asks what you actually built versus what you glued together: the PDF reader and the offline coach are both ours, written because the off-the-shelf options failed.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second line, then stop talking and let them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05840"/>
            <a:ext cx="4206240" cy="4206240"/>
          </a:xfrm>
          <a:prstGeom prst="ellipse">
            <a:avLst/>
          </a:prstGeom>
          <a:ln w="25400">
            <a:solidFill>
              <a:srgbClr val="2BCDB6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86954" y="1594714"/>
            <a:ext cx="3028493" cy="3028493"/>
          </a:xfrm>
          <a:prstGeom prst="ellipse">
            <a:avLst/>
          </a:prstGeom>
          <a:ln w="12700">
            <a:solidFill>
              <a:srgbClr val="78817B">
                <a:alpha val="2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601200" y="3108960"/>
            <a:ext cx="1303934" cy="1051560"/>
          </a:xfrm>
          <a:prstGeom prst="line">
            <a:avLst/>
          </a:prstGeom>
          <a:noFill/>
          <a:ln w="38100">
            <a:solidFill>
              <a:srgbClr val="2BCDB6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7192" y="3044952"/>
            <a:ext cx="128016" cy="128016"/>
          </a:xfrm>
          <a:prstGeom prst="ellipse">
            <a:avLst/>
          </a:prstGeom>
          <a:solidFill>
            <a:srgbClr val="2BCDB6"/>
          </a:solidFill>
          <a:ln w="12700">
            <a:solidFill>
              <a:srgbClr val="2B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BC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MINDBOT  ·  SYNAPTICA — DUALITY OF MIND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BC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second mind.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mind learns, and forgets. Atlas keeps a running model of what you know — every topic, a confidence score, a decay curve — and decides what you study next.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88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AI study coach for CBSE and ICSE students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88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don't lack information.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C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lack a system.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002536" cy="1371600"/>
          </a:xfrm>
          <a:prstGeom prst="roundRect">
            <a:avLst>
              <a:gd name="adj" fmla="val 10667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9748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43784" y="2514600"/>
            <a:ext cx="2002536" cy="1371600"/>
          </a:xfrm>
          <a:prstGeom prst="roundRect">
            <a:avLst>
              <a:gd name="adj" fmla="val 10667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26664" y="269748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26664" y="306324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47488" y="2514600"/>
            <a:ext cx="2002536" cy="1371600"/>
          </a:xfrm>
          <a:prstGeom prst="roundRect">
            <a:avLst>
              <a:gd name="adj" fmla="val 10667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30368" y="269748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30368" y="306324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and plans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51192" y="2514600"/>
            <a:ext cx="2002536" cy="1371600"/>
          </a:xfrm>
          <a:prstGeom prst="roundRect">
            <a:avLst>
              <a:gd name="adj" fmla="val 10667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34072" y="269748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34072" y="306324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timing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54896" y="2514600"/>
            <a:ext cx="2002536" cy="1371600"/>
          </a:xfrm>
          <a:prstGeom prst="roundRect">
            <a:avLst>
              <a:gd name="adj" fmla="val 10667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37776" y="269748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37776" y="306324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9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1737360" y="43434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that each solve one piece, and none of which knows the student's whole academic year. The result is decision fatigue — more time spent deciding what to revise than revising.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BC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Duality of mind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3977640"/>
          </a:xfrm>
          <a:prstGeom prst="roundRect">
            <a:avLst>
              <a:gd name="adj" fmla="val 3678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57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88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MIND — YOURS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Learns, and forgets.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4343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a chapter on Tuesday.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lost half of it by the following month.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feel which topics are slipping.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what to revise by mood, or by panic.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783080"/>
            <a:ext cx="5074920" cy="3977640"/>
          </a:xfrm>
          <a:prstGeom prst="roundRect">
            <a:avLst>
              <a:gd name="adj" fmla="val 3678"/>
            </a:avLst>
          </a:prstGeom>
          <a:solidFill>
            <a:srgbClr val="363D38"/>
          </a:solidFill>
          <a:ln w="12700">
            <a:solidFill>
              <a:srgbClr val="363D38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2057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BC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 MIND — ATLAS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12280" y="23774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Remembers, and decides.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12280" y="2971800"/>
            <a:ext cx="4343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 confidence score for every topic.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decay: what you knew is not what you know.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each paper by how close it is.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you the next task before you ask.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BC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chat is where the two of them meet.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88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things, one loop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3630" cy="1920240"/>
          </a:xfrm>
          <a:prstGeom prst="roundRect">
            <a:avLst>
              <a:gd name="adj" fmla="val 7619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21408"/>
            <a:ext cx="310896" cy="310896"/>
          </a:xfrm>
          <a:prstGeom prst="ellipse">
            <a:avLst/>
          </a:prstGeom>
          <a:solidFill>
            <a:srgbClr val="2BCDB6"/>
          </a:solidFill>
          <a:ln w="12700">
            <a:solidFill>
              <a:srgbClr val="2B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9888" y="2103120"/>
            <a:ext cx="2437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2688" y="2606040"/>
            <a:ext cx="28584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mission, computed from confidence, exam distance and the time you actually have.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58030" y="1828800"/>
            <a:ext cx="3443630" cy="1920240"/>
          </a:xfrm>
          <a:prstGeom prst="roundRect">
            <a:avLst>
              <a:gd name="adj" fmla="val 7619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50638" y="2121408"/>
            <a:ext cx="310896" cy="310896"/>
          </a:xfrm>
          <a:prstGeom prst="ellipse">
            <a:avLst/>
          </a:prstGeom>
          <a:solidFill>
            <a:srgbClr val="2BCDB6"/>
          </a:solidFill>
          <a:ln w="12700">
            <a:solidFill>
              <a:srgbClr val="2B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7838" y="2103120"/>
            <a:ext cx="2437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50638" y="2606040"/>
            <a:ext cx="28584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focus sessions with the coach beside you, asking rather than answering.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5981" y="1828800"/>
            <a:ext cx="3443630" cy="1920240"/>
          </a:xfrm>
          <a:prstGeom prst="roundRect">
            <a:avLst>
              <a:gd name="adj" fmla="val 7619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8589" y="2121408"/>
            <a:ext cx="310896" cy="310896"/>
          </a:xfrm>
          <a:prstGeom prst="ellipse">
            <a:avLst/>
          </a:prstGeom>
          <a:solidFill>
            <a:srgbClr val="2BCDB6"/>
          </a:solidFill>
          <a:ln w="12700">
            <a:solidFill>
              <a:srgbClr val="2BCD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5789" y="2103120"/>
            <a:ext cx="2437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68589" y="2606040"/>
            <a:ext cx="28584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graph: your syllabus as a structure, each topic carrying its own score.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443630" cy="1920240"/>
          </a:xfrm>
          <a:prstGeom prst="roundRect">
            <a:avLst>
              <a:gd name="adj" fmla="val 7619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" y="4315968"/>
            <a:ext cx="310896" cy="310896"/>
          </a:xfrm>
          <a:prstGeom prst="ellipse">
            <a:avLst/>
          </a:prstGeom>
          <a:solidFill>
            <a:srgbClr val="E8993F"/>
          </a:solidFill>
          <a:ln w="12700">
            <a:solidFill>
              <a:srgbClr val="E899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9888" y="4297680"/>
            <a:ext cx="2437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32688" y="4800600"/>
            <a:ext cx="28584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decays. Topics resurface for revision before you notice they've gone.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58030" y="4023360"/>
            <a:ext cx="3443630" cy="1920240"/>
          </a:xfrm>
          <a:prstGeom prst="roundRect">
            <a:avLst>
              <a:gd name="adj" fmla="val 7619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50638" y="4315968"/>
            <a:ext cx="310896" cy="310896"/>
          </a:xfrm>
          <a:prstGeom prst="ellipse">
            <a:avLst/>
          </a:prstGeom>
          <a:solidFill>
            <a:srgbClr val="E8993F"/>
          </a:solidFill>
          <a:ln w="12700">
            <a:solidFill>
              <a:srgbClr val="E899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7838" y="4297680"/>
            <a:ext cx="2437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650638" y="4800600"/>
            <a:ext cx="28584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eases off when you miss a day. It never resets to zero.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75981" y="4023360"/>
            <a:ext cx="3443630" cy="1920240"/>
          </a:xfrm>
          <a:prstGeom prst="roundRect">
            <a:avLst>
              <a:gd name="adj" fmla="val 7619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8589" y="4315968"/>
            <a:ext cx="310896" cy="310896"/>
          </a:xfrm>
          <a:prstGeom prst="ellipse">
            <a:avLst/>
          </a:prstGeom>
          <a:solidFill>
            <a:srgbClr val="D4644C"/>
          </a:solidFill>
          <a:ln w="12700">
            <a:solidFill>
              <a:srgbClr val="D464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5789" y="4297680"/>
            <a:ext cx="2437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368589" y="4800600"/>
            <a:ext cx="28584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syllabus PDF — or photograph a printed one — and Atlas builds the rest.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BC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CHATBOT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coach, not a chatbot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not hand over the answer. That's the point — and it's enforced in the prompt.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7040880" cy="3794760"/>
          </a:xfrm>
          <a:prstGeom prst="roundRect">
            <a:avLst>
              <a:gd name="adj" fmla="val 3855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88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weaker because the wire is longer now.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BC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ATLAS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7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isn't what sets the field here. Picture the field lines from each small segment of the loop — at the centre, are they pointing the same way, or fighting each other?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4572000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3A2E1C"/>
          </a:solidFill>
          <a:ln w="12700">
            <a:solidFill>
              <a:srgbClr val="3A2E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4892040"/>
            <a:ext cx="146304" cy="146304"/>
          </a:xfrm>
          <a:prstGeom prst="ellipse">
            <a:avLst/>
          </a:prstGeom>
          <a:solidFill>
            <a:srgbClr val="E8993F"/>
          </a:solidFill>
          <a:ln w="12700">
            <a:solidFill>
              <a:srgbClr val="E89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4709160"/>
            <a:ext cx="571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9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 detected: treating field strength as a function of wire length.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057400"/>
            <a:ext cx="3474720" cy="3794760"/>
          </a:xfrm>
          <a:prstGeom prst="roundRect">
            <a:avLst>
              <a:gd name="adj" fmla="val 4211"/>
            </a:avLst>
          </a:prstGeom>
          <a:solidFill>
            <a:srgbClr val="363D38"/>
          </a:solidFill>
          <a:ln w="12700">
            <a:solidFill>
              <a:srgbClr val="363D38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BC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THE MODEL UPDATES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7E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41248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 Magnetic Effects, before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4114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9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412480" y="4937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after. The graph, the dashboard and tomorrow's mission all move with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88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AI pipelines, not one prompt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3630" cy="3108960"/>
          </a:xfrm>
          <a:prstGeom prst="roundRect">
            <a:avLst>
              <a:gd name="adj" fmla="val 4706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C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28035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syllabus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200400"/>
            <a:ext cx="280355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PDF, or a photo of a printed sheet. Text is pulled out in the browser or on the server, then structured into subjects, chapters and exam dates.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01998" y="31089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88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58030" y="1828800"/>
            <a:ext cx="3443630" cy="3108960"/>
          </a:xfrm>
          <a:prstGeom prst="roundRect">
            <a:avLst>
              <a:gd name="adj" fmla="val 4706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807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C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78070" y="2697480"/>
            <a:ext cx="28035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the day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78070" y="3200400"/>
            <a:ext cx="280355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 is scored on confidence, days since you last saw it, and how close its paper is. The mission fills your available minutes, hardest first.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19949" y="31089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88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75981" y="1828800"/>
            <a:ext cx="3443630" cy="3108960"/>
          </a:xfrm>
          <a:prstGeom prst="roundRect">
            <a:avLst>
              <a:gd name="adj" fmla="val 4706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96021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C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96021" y="2697480"/>
            <a:ext cx="28035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and evaluate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96021" y="3200400"/>
            <a:ext cx="280355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returns two things: the streamed reply you read, and a structured verdict — misconception, confidence delta, next question.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coach says is grounded in the student's own data: their syllabus, their confidence, their exam dates. That context is the difference between a coach and a search box.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88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325880"/>
          </a:xfrm>
          <a:prstGeom prst="roundRect">
            <a:avLst>
              <a:gd name="adj" fmla="val 11034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C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 Flash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and the syllabus extractor. Streaming, so replies arrive as they're written.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325880"/>
          </a:xfrm>
          <a:prstGeom prst="roundRect">
            <a:avLst>
              <a:gd name="adj" fmla="val 11034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C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Router. The API key stays server-side and never reaches the browser.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64992"/>
            <a:ext cx="5303520" cy="1325880"/>
          </a:xfrm>
          <a:prstGeom prst="roundRect">
            <a:avLst>
              <a:gd name="adj" fmla="val 11034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5478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C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Appwrite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9136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storage. Every record scoped to the student who owns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364992"/>
            <a:ext cx="5303520" cy="1325880"/>
          </a:xfrm>
          <a:prstGeom prst="roundRect">
            <a:avLst>
              <a:gd name="adj" fmla="val 11034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35478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C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Tesseract.js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39136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character recognition in the browser, so a photographed syllabus works too.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46904"/>
            <a:ext cx="5303520" cy="1325880"/>
          </a:xfrm>
          <a:prstGeom prst="roundRect">
            <a:avLst>
              <a:gd name="adj" fmla="val 11034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51297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C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PDF reader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54955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from scratch on node:zlib — decodes subset fonts that off-the-shelf parsers returned as gibberish.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946904"/>
            <a:ext cx="5303520" cy="1325880"/>
          </a:xfrm>
          <a:prstGeom prst="roundRect">
            <a:avLst>
              <a:gd name="adj" fmla="val 11034"/>
            </a:avLst>
          </a:prstGeom>
          <a:solidFill>
            <a:srgbClr val="2E3430"/>
          </a:solidFill>
          <a:ln w="12700">
            <a:solidFill>
              <a:srgbClr val="2E3430"/>
            </a:solidFill>
            <a:prstDash val="solid"/>
          </a:ln>
          <a:effectLst>
            <a:outerShdw sx="100000" sy="100000" kx="0" ky="0" algn="bl" rotWithShape="0" blurRad="177800" dist="50800" dir="2700000">
              <a:srgbClr val="0F1310">
                <a:alpha val="5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51297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C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54955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3A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Deployment. The coach falls back to an on-device responder when the network drops.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194560"/>
            <a:ext cx="3657600" cy="3657600"/>
          </a:xfrm>
          <a:prstGeom prst="ellipse">
            <a:avLst/>
          </a:prstGeom>
          <a:ln w="25400">
            <a:solidFill>
              <a:srgbClr val="2BCDB6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58784" y="2706624"/>
            <a:ext cx="2633472" cy="2633472"/>
          </a:xfrm>
          <a:prstGeom prst="ellipse">
            <a:avLst/>
          </a:prstGeom>
          <a:ln w="12700">
            <a:solidFill>
              <a:srgbClr val="78817B">
                <a:alpha val="1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875520" y="4023360"/>
            <a:ext cx="1133856" cy="914400"/>
          </a:xfrm>
          <a:prstGeom prst="line">
            <a:avLst/>
          </a:prstGeom>
          <a:noFill/>
          <a:ln w="38100">
            <a:solidFill>
              <a:srgbClr val="2BCDB6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11512" y="3959352"/>
            <a:ext cx="128016" cy="128016"/>
          </a:xfrm>
          <a:prstGeom prst="ellipse">
            <a:avLst/>
          </a:prstGeom>
          <a:solidFill>
            <a:srgbClr val="2BCDB6"/>
          </a:solidFill>
          <a:ln w="12700">
            <a:solidFill>
              <a:srgbClr val="2B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85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BC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ATLAS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shouldn't have to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E7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wonder what to study next.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BC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should open Atlas, and it already knows.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88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— questions welcome.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— Your second mind</dc:title>
  <dc:subject>PptxGenJS Presentation</dc:subject>
  <dc:creator>Team Atlas</dc:creator>
  <cp:lastModifiedBy>Team Atlas</cp:lastModifiedBy>
  <cp:revision>1</cp:revision>
  <dcterms:created xsi:type="dcterms:W3CDTF">2026-07-28T19:28:33Z</dcterms:created>
  <dcterms:modified xsi:type="dcterms:W3CDTF">2026-07-28T19:28:33Z</dcterms:modified>
</cp:coreProperties>
</file>